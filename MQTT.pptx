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</p:embeddedFont>
    <p:embeddedFont>
      <p:font typeface="Roboto Slab" pitchFamily="2" charset="0"/>
      <p:regular r:id="rId1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30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19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45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MQTT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1346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MQTT steht für Message Queuing Telemetry Transport. Das Protokoll wird für die Kommunikation zwischen Maschine-to-Maschine verwendet. Es vereinfacht die Kommunikation und verwendet standardmäßig die Ports 1883 und 8883.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269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MQTT Topologie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0758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Wie sieht eine MQTT Topologie schematisch aus?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6939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Zentrale Sternstruktur. Alle Clients (Publisher/Subscriber) verbinden sich mit einem zentralen Broker. Kommunikation erfolgt ausschließlich über den Broker, nie direkt zwischen Clients.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6748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Publisher → MQTT Broker → Subscriber</a:t>
            </a:r>
            <a:endParaRPr lang="en-US" sz="175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5C9ADB8-D759-FF0A-D57E-C5E8D395740D}"/>
              </a:ext>
            </a:extLst>
          </p:cNvPr>
          <p:cNvSpPr/>
          <p:nvPr/>
        </p:nvSpPr>
        <p:spPr>
          <a:xfrm>
            <a:off x="12646855" y="7679414"/>
            <a:ext cx="1856936" cy="458746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1743"/>
            <a:ext cx="81628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Aufgaben eines MQTT Brokers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41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Welche Aufgaben kommt einem MQTT Broker zu?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42203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51084" y="3599497"/>
            <a:ext cx="32532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Nachrichtenvermittlung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408991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Vermittelt Nachrichten zwischen Publisher und Subscriber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342203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74256" y="35994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Topic-Verwaltung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74256" y="408991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Verwaltet Topics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342203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9897427" y="35994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QoS-Sicherung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97427" y="408991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Stellt QoS (Quality of Service) sicher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299829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051084" y="5557123"/>
            <a:ext cx="29881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Nachrichtenpufferung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084" y="604754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Puffert Nachrichten je nach Einstellungen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299829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685842" y="5557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Überwachung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5842" y="604754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Überwacht Verbindungen und Zustände der Clients</a:t>
            </a:r>
            <a:endParaRPr lang="en-US" sz="1750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6CD507E-8A31-E843-BEA8-8CB4108965D6}"/>
              </a:ext>
            </a:extLst>
          </p:cNvPr>
          <p:cNvSpPr/>
          <p:nvPr/>
        </p:nvSpPr>
        <p:spPr>
          <a:xfrm>
            <a:off x="12646855" y="7679414"/>
            <a:ext cx="1856936" cy="458746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16956"/>
            <a:ext cx="82432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Sichtbarkeit von MQTT-Clients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2658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Sieht ein MQTT-Client andere Clients?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883950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6228040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616743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Nein, ein MQTT-Client sieht keine anderen Clients.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Kommunikation läuft vollständig über den Broker.</a:t>
            </a:r>
            <a:endParaRPr lang="en-US" sz="175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743F6FF-AC07-51CD-9CCB-21B2B008E570}"/>
              </a:ext>
            </a:extLst>
          </p:cNvPr>
          <p:cNvSpPr/>
          <p:nvPr/>
        </p:nvSpPr>
        <p:spPr>
          <a:xfrm>
            <a:off x="12646855" y="7679414"/>
            <a:ext cx="1856936" cy="458746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1488"/>
            <a:ext cx="83900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QoS-Level und Broker-Software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9389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Welche QoS-Level gibt es bei MQTT (at most once, exactly once, at least once)? Durch welche Software kann ein Broker realisiert werden?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016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QoS-Level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828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QoS 0 – At most once: Nachricht wird einmalig gesendet, ohne Bestätigung. Kein Retry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879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QoS 1 – At least once: Nachricht wird garantiert mindestens einmal zugestellt. Mögliche Duplikate.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99301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QoS 2 – Exactly once: Nachricht wird exakt einmal zugestellt (Aufwendiger Handshake)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8016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Broker-Software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3828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Eclipse Mosquitto (Standard, Open Source)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8250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HiveMQ (kommerziell, auch Community Edition)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6720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EMQX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70940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VerneMQ</a:t>
            </a:r>
            <a:endParaRPr lang="en-US" sz="175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3D2333A-7809-4E83-83DC-BC3E1CD6789C}"/>
              </a:ext>
            </a:extLst>
          </p:cNvPr>
          <p:cNvSpPr/>
          <p:nvPr/>
        </p:nvSpPr>
        <p:spPr>
          <a:xfrm>
            <a:off x="12646855" y="7679414"/>
            <a:ext cx="1856936" cy="458746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021" y="433030"/>
            <a:ext cx="4674275" cy="49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Publisher und Subscriber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51021" y="1318498"/>
            <a:ext cx="1968222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Publisher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51021" y="1721882"/>
            <a:ext cx="657213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Sendet Daten (Nachrichten) an ein bestimmtes Topic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21" y="2150864"/>
            <a:ext cx="6572131" cy="65721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4868" y="1318498"/>
            <a:ext cx="1968222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Subscriber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14868" y="1721882"/>
            <a:ext cx="6572131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Abonniert Topics und empfängt alle Nachrichten, die zu diesen Topics gesendet werden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868" y="2150864"/>
            <a:ext cx="6572131" cy="6572131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3DF7B6D3-AC7B-25B7-C3B1-206FECE5AA3C}"/>
              </a:ext>
            </a:extLst>
          </p:cNvPr>
          <p:cNvSpPr/>
          <p:nvPr/>
        </p:nvSpPr>
        <p:spPr>
          <a:xfrm>
            <a:off x="14086999" y="7679414"/>
            <a:ext cx="416792" cy="458746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89412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Vorteile und Nachteile von MQTT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Vorteile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Geringer Overhead, leichtgewichtig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für IoT / Embedded Systeme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Asynchron, entkoppelte Kommunikation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QoS-Steuerung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Nachteile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Zentraler Broker ist der Single Point of Failure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Keine direkten Client-to-Client Verbindung ohne Broker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432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Fehlende standardisierte Sicherheitskonfiguration ohne TLS</a:t>
            </a:r>
            <a:endParaRPr lang="en-US" sz="175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987891C-A2D9-105E-0E58-339DA3EECBCA}"/>
              </a:ext>
            </a:extLst>
          </p:cNvPr>
          <p:cNvSpPr/>
          <p:nvPr/>
        </p:nvSpPr>
        <p:spPr>
          <a:xfrm>
            <a:off x="12646855" y="7679414"/>
            <a:ext cx="1856936" cy="458746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0059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Kommunikation zwischen verschiedenen Apps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5831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Können verschiedene Apps über MQTT miteinander kommunizieren? (z.B. Mosquitto mit Handyapp)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639270"/>
            <a:ext cx="7556421" cy="1689616"/>
          </a:xfrm>
          <a:prstGeom prst="roundRect">
            <a:avLst>
              <a:gd name="adj" fmla="val 2014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4983361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4922758"/>
            <a:ext cx="659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Ja, unterschiedliche Clients und Plattformen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(z.B. Mosquitto-Broker, Handy-App, Node-RED) können über MQTT kommunizieren, wenn sie denselben Broker und Topic nutzen.</a:t>
            </a:r>
            <a:endParaRPr lang="en-US" sz="175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ED81047-72B7-4764-B1F1-062698D6B717}"/>
              </a:ext>
            </a:extLst>
          </p:cNvPr>
          <p:cNvSpPr/>
          <p:nvPr/>
        </p:nvSpPr>
        <p:spPr>
          <a:xfrm>
            <a:off x="12646855" y="7679414"/>
            <a:ext cx="1856936" cy="458746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3709"/>
            <a:ext cx="101480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Sicherung der MQTT-Kommunikation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161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Wie kann Kommunikation abgesichert werden? (z.B. Benutzerauthentifizierung)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34170"/>
            <a:ext cx="6407944" cy="807958"/>
          </a:xfrm>
          <a:prstGeom prst="roundRect">
            <a:avLst>
              <a:gd name="adj" fmla="val 421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20604" y="4060984"/>
            <a:ext cx="34811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TLS/SSL-Verschlüsselung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28548" y="3834170"/>
            <a:ext cx="6408063" cy="807958"/>
          </a:xfrm>
          <a:prstGeom prst="roundRect">
            <a:avLst>
              <a:gd name="adj" fmla="val 421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655362" y="4060984"/>
            <a:ext cx="57975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Benutzername/Passwort-Authentifizierung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3790" y="4868942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020604" y="5095756"/>
            <a:ext cx="3640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ACLs (Access Control Lists)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0604" y="558617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Zugriffsbeschränkungen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486894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655362" y="50957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Port 8883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55362" y="558617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für MQTT über TLS</a:t>
            </a:r>
            <a:endParaRPr lang="en-US" sz="175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09D550-7102-9A3F-68CD-91A3B79339C6}"/>
              </a:ext>
            </a:extLst>
          </p:cNvPr>
          <p:cNvSpPr/>
          <p:nvPr/>
        </p:nvSpPr>
        <p:spPr>
          <a:xfrm>
            <a:off x="12646855" y="7679414"/>
            <a:ext cx="1856936" cy="458746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8907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MQTT-Implementierung und Code-Beispiele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Wie kann MQTT umgesetzt werden (NodeRed, python, …)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96835" y="1201936"/>
            <a:ext cx="4536638" cy="683776"/>
          </a:xfrm>
          <a:prstGeom prst="roundRect">
            <a:avLst>
              <a:gd name="adj" fmla="val 2488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25423" y="133052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Node-RED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5423" y="1575673"/>
            <a:ext cx="42794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Grafische Flussprogrammierung, MQTT-Nodes vorhanden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46821" y="1201936"/>
            <a:ext cx="4536638" cy="683776"/>
          </a:xfrm>
          <a:prstGeom prst="roundRect">
            <a:avLst>
              <a:gd name="adj" fmla="val 2488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175409" y="133052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75409" y="1575673"/>
            <a:ext cx="42794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Bibliothek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696807" y="1201936"/>
            <a:ext cx="4536638" cy="683776"/>
          </a:xfrm>
          <a:prstGeom prst="roundRect">
            <a:avLst>
              <a:gd name="adj" fmla="val 2488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9825395" y="133052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Weitere Sprachen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25395" y="1575673"/>
            <a:ext cx="427946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C/C++, Java, JavaScript (mqtt.js)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6835" y="201322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Wie sieht ein Beispielcode für ein Subscriber und Publisher aus?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6835" y="2364700"/>
            <a:ext cx="145732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Publisher mit Python: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6835" y="2711887"/>
            <a:ext cx="13836729" cy="1984534"/>
          </a:xfrm>
          <a:prstGeom prst="roundRect">
            <a:avLst>
              <a:gd name="adj" fmla="val 857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391239" y="2711887"/>
            <a:ext cx="13847921" cy="1984534"/>
          </a:xfrm>
          <a:prstGeom prst="roundRect">
            <a:avLst>
              <a:gd name="adj" fmla="val 857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17" name="Text 15"/>
          <p:cNvSpPr/>
          <p:nvPr/>
        </p:nvSpPr>
        <p:spPr>
          <a:xfrm>
            <a:off x="504587" y="2796897"/>
            <a:ext cx="1362122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/>
              <a:t>import </a:t>
            </a:r>
            <a:r>
              <a:rPr lang="en-US" sz="900" dirty="0" err="1"/>
              <a:t>paho.mqtt.client</a:t>
            </a:r>
            <a:r>
              <a:rPr lang="en-US" sz="900" dirty="0"/>
              <a:t> as </a:t>
            </a:r>
            <a:r>
              <a:rPr lang="en-US" sz="900" dirty="0" err="1"/>
              <a:t>mqtt</a:t>
            </a:r>
            <a:endParaRPr lang="en-US" sz="900" dirty="0"/>
          </a:p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/>
              <a:t>broker = "localhost"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/>
              <a:t>topic = "test/topic"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/>
              <a:t>client = </a:t>
            </a:r>
            <a:r>
              <a:rPr lang="en-US" sz="900" dirty="0" err="1"/>
              <a:t>mqtt.Client</a:t>
            </a:r>
            <a:r>
              <a:rPr lang="en-US" sz="900" dirty="0"/>
              <a:t>()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 err="1"/>
              <a:t>client.connect</a:t>
            </a:r>
            <a:r>
              <a:rPr lang="en-US" sz="900" dirty="0"/>
              <a:t>(broker)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 err="1"/>
              <a:t>client.publish</a:t>
            </a:r>
            <a:r>
              <a:rPr lang="en-US" sz="900" dirty="0"/>
              <a:t>(topic, "Hallo MQTT")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 err="1"/>
              <a:t>client.disconnect</a:t>
            </a:r>
            <a:r>
              <a:rPr lang="en-US" sz="900" dirty="0"/>
              <a:t>()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6835" y="4866442"/>
            <a:ext cx="153150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Subscriber mit Python: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6835" y="5213628"/>
            <a:ext cx="13836729" cy="2710339"/>
          </a:xfrm>
          <a:prstGeom prst="roundRect">
            <a:avLst>
              <a:gd name="adj" fmla="val 628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391239" y="5213628"/>
            <a:ext cx="13847921" cy="2774753"/>
          </a:xfrm>
          <a:prstGeom prst="roundRect">
            <a:avLst>
              <a:gd name="adj" fmla="val 628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4587" y="5134708"/>
            <a:ext cx="13621226" cy="3094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>
              <a:solidFill>
                <a:srgbClr val="15213F"/>
              </a:solidFill>
              <a:highlight>
                <a:srgbClr val="EEEFF1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paho.mqtt.client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mqtt</a:t>
            </a:r>
            <a:endParaRPr lang="en-US" sz="900" dirty="0">
              <a:solidFill>
                <a:srgbClr val="15213F"/>
              </a:solidFill>
              <a:highlight>
                <a:srgbClr val="EEEFF1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900" dirty="0">
              <a:solidFill>
                <a:srgbClr val="15213F"/>
              </a:solidFill>
              <a:highlight>
                <a:srgbClr val="EEEFF1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broker = "localhost"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topic = "test/topic"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900" dirty="0">
              <a:solidFill>
                <a:srgbClr val="15213F"/>
              </a:solidFill>
              <a:highlight>
                <a:srgbClr val="EEEFF1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on_message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(client, </a:t>
            </a: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userdata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msg):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f"Nachricht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erhalten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msg.payload.decode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()} auf Topic {</a:t>
            </a: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msg.topic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}")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900" dirty="0">
              <a:solidFill>
                <a:srgbClr val="15213F"/>
              </a:solidFill>
              <a:highlight>
                <a:srgbClr val="EEEFF1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</a:t>
            </a: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mqtt.Client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client.connect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(broker)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client.subscribe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(topic)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client.on_message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on_message</a:t>
            </a:r>
            <a:endParaRPr lang="en-US" sz="900" dirty="0">
              <a:solidFill>
                <a:srgbClr val="15213F"/>
              </a:solidFill>
              <a:highlight>
                <a:srgbClr val="EEEFF1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endParaRPr lang="en-US" sz="900" dirty="0">
              <a:solidFill>
                <a:srgbClr val="15213F"/>
              </a:solidFill>
              <a:highlight>
                <a:srgbClr val="EEEFF1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90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client.loop_forever</a:t>
            </a: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5D080A5-B3C5-E329-D26B-EEF2744831D2}"/>
              </a:ext>
            </a:extLst>
          </p:cNvPr>
          <p:cNvSpPr/>
          <p:nvPr/>
        </p:nvSpPr>
        <p:spPr>
          <a:xfrm>
            <a:off x="12646855" y="7923966"/>
            <a:ext cx="1856936" cy="214193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F412745-04B4-1CF7-EED6-BD1FBA7DDA84}"/>
              </a:ext>
            </a:extLst>
          </p:cNvPr>
          <p:cNvSpPr/>
          <p:nvPr/>
        </p:nvSpPr>
        <p:spPr>
          <a:xfrm>
            <a:off x="14244755" y="7679414"/>
            <a:ext cx="259035" cy="458746"/>
          </a:xfrm>
          <a:prstGeom prst="rect">
            <a:avLst/>
          </a:prstGeom>
          <a:solidFill>
            <a:srgbClr val="FBFCFE"/>
          </a:solidFill>
          <a:ln>
            <a:solidFill>
              <a:srgbClr val="FB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Microsoft Office PowerPoint</Application>
  <PresentationFormat>Benutzerdefiniert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Roboto Slab</vt:lpstr>
      <vt:lpstr>Consolas</vt:lpstr>
      <vt:lpstr>Roboto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FISI24I Marlon Maximilian Moritz</cp:lastModifiedBy>
  <cp:revision>3</cp:revision>
  <dcterms:created xsi:type="dcterms:W3CDTF">2025-10-30T11:16:59Z</dcterms:created>
  <dcterms:modified xsi:type="dcterms:W3CDTF">2025-10-30T11:23:12Z</dcterms:modified>
</cp:coreProperties>
</file>